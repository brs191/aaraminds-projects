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0E8C82"/>
                </a:solidFill>
                <a:latin typeface="Calibri"/>
              </a:rPr>
              <a:t>AITO      ·      DECISION DECK      ·      25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1051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AI Token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27248"/>
            <a:ext cx="8961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 i="0">
                <a:solidFill>
                  <a:srgbClr val="C9D4EF"/>
                </a:solidFill>
                <a:latin typeface="Calibri"/>
              </a:rPr>
              <a:t>Fund a 2–4 week spike to measure what context compression actually saves — before committing to a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4590288"/>
            <a:ext cx="2468880" cy="27432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8646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0E8C82"/>
                </a:solidFill>
                <a:latin typeface="Calibri"/>
              </a:rP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83717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AVP / VP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218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0E8C82"/>
                </a:solidFill>
                <a:latin typeface="Calibr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294376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Approve the spike — a decision, not a build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E76A0"/>
                </a:solidFill>
                <a:latin typeface="Calibri"/>
              </a:rPr>
              <a:t>Prepared with the AITO Executive Narrative Advisor persona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For a few engineer-weeks, we can replace a guess with a measured answer — and avoid betting on a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00">
                <a:solidFill>
                  <a:srgbClr val="0E8C82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05456"/>
            <a:ext cx="6400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50" b="0" i="0">
                <a:solidFill>
                  <a:srgbClr val="474C66"/>
                </a:solidFill>
                <a:latin typeface="Calibri"/>
              </a:rPr>
              <a:t>AI coding-assistant spend scales with tokens and is rising — and AITO has no measured baseline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39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00">
                <a:solidFill>
                  <a:srgbClr val="0E8C82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31335"/>
            <a:ext cx="6400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50" b="0" i="0">
                <a:solidFill>
                  <a:srgbClr val="474C66"/>
                </a:solidFill>
                <a:latin typeface="Calibri"/>
              </a:rPr>
              <a:t>A token optimizer is the obvious fix, but the concept already ships and every component is commoditized. The case rests on one number — a 25–45% saving — that is unmeasured.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00">
                <a:solidFill>
                  <a:srgbClr val="0E8C82"/>
                </a:solidFill>
                <a:latin typeface="Calibri"/>
              </a:rPr>
              <a:t>THE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57216"/>
            <a:ext cx="6400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50" b="0" i="0">
                <a:solidFill>
                  <a:srgbClr val="474C66"/>
                </a:solidFill>
                <a:latin typeface="Calibri"/>
              </a:rPr>
              <a:t>Run a 2–4 week spike on off-the-shelf parts, measure real savings on our own usage, then a Green / Amber / Red gate decides: build, keep as internal tooling, or drop.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94560"/>
            <a:ext cx="3657600" cy="3822191"/>
          </a:xfrm>
          <a:prstGeom prst="roundRect">
            <a:avLst>
              <a:gd name="adj" fmla="val 275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468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50">
                <a:solidFill>
                  <a:srgbClr val="0E8C82"/>
                </a:solidFill>
                <a:latin typeface="Calibri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779776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Georgia"/>
              </a:rPr>
              <a:t>Approve a 2–4 week measurement spike.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3730752"/>
            <a:ext cx="3054096" cy="16459"/>
          </a:xfrm>
          <a:prstGeom prst="rect">
            <a:avLst/>
          </a:prstGeom>
          <a:solidFill>
            <a:srgbClr val="3C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913632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50">
                <a:solidFill>
                  <a:srgbClr val="5FD0C6"/>
                </a:solidFill>
                <a:latin typeface="Calibri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413308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4EF"/>
                </a:solidFill>
                <a:latin typeface="Calibri"/>
              </a:rPr>
              <a:t>A few engineer-weeks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4608576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50">
                <a:solidFill>
                  <a:srgbClr val="5FD0C6"/>
                </a:solidFill>
                <a:latin typeface="Calibri"/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82803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4EF"/>
                </a:solidFill>
                <a:latin typeface="Calibri"/>
              </a:rPr>
              <a:t>A build decision backed by measured numbers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530352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150">
                <a:solidFill>
                  <a:srgbClr val="5FD0C6"/>
                </a:solidFill>
                <a:latin typeface="Calibri"/>
              </a:rPr>
              <a:t>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552297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D4EF"/>
                </a:solidFill>
                <a:latin typeface="Calibri"/>
              </a:rPr>
              <a:t>Needed now — to 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AI coding assistants are now core to engineering — and the bill scales with every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291840" cy="2468880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2505456"/>
            <a:ext cx="310896" cy="1097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24912"/>
            <a:ext cx="270662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0284A"/>
                </a:solidFill>
                <a:latin typeface="Georgia"/>
              </a:rPr>
              <a:t>Cost scales with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401568"/>
            <a:ext cx="27066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Every assistant request is billed by token volume. Heavy daily use compounds the bill.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194560"/>
            <a:ext cx="3291840" cy="2468880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2505456"/>
            <a:ext cx="310896" cy="1097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724912"/>
            <a:ext cx="270662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0284A"/>
                </a:solidFill>
                <a:latin typeface="Georgia"/>
              </a:rPr>
              <a:t>Context is largely redundant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401568"/>
            <a:ext cx="27066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Each request re-sends conversation history, tool output and long prompts — and pays for all of it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194560"/>
            <a:ext cx="3291840" cy="2468880"/>
          </a:xfrm>
          <a:prstGeom prst="roundRect">
            <a:avLst>
              <a:gd name="adj" fmla="val 4074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02752" y="2505456"/>
            <a:ext cx="310896" cy="1097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724912"/>
            <a:ext cx="270662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0284A"/>
                </a:solidFill>
                <a:latin typeface="Georgia"/>
              </a:rPr>
              <a:t>No baseline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401568"/>
            <a:ext cx="270662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AITO cannot today state its own coding-assistant spend, or how fast it is growing.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83480"/>
            <a:ext cx="10543032" cy="868680"/>
          </a:xfrm>
          <a:prstGeom prst="roundRect">
            <a:avLst>
              <a:gd name="adj" fmla="val 11578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99943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2761"/>
                </a:solidFill>
                <a:latin typeface="Calibri"/>
              </a:rPr>
              <a:t>The gap:  </a:t>
            </a:r>
            <a:r>
              <a:rPr sz="1450" b="0" i="0">
                <a:solidFill>
                  <a:srgbClr val="1E2761"/>
                </a:solidFill>
                <a:latin typeface="Calibri"/>
              </a:rPr>
              <a:t>AITO is paying for this today — and cannot yet measure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A token optimizer is an obvious idea — which is why it already ships, and every piece is commoditized.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43032" cy="713232"/>
          </a:xfrm>
          <a:prstGeom prst="roundRect">
            <a:avLst>
              <a:gd name="adj" fmla="val 14102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84A"/>
                </a:solidFill>
                <a:latin typeface="Calibri"/>
              </a:rPr>
              <a:t>Proxy interception of agent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42793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Ships today — Context Gateway, OmniRoute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43032" cy="713232"/>
          </a:xfrm>
          <a:prstGeom prst="roundRect">
            <a:avLst>
              <a:gd name="adj" fmla="val 14102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1752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84A"/>
                </a:solidFill>
                <a:latin typeface="Calibri"/>
              </a:rPr>
              <a:t>Context and prompt 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17520"/>
            <a:ext cx="42793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Commodity, open-source — LLMLingua-2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10543032" cy="713232"/>
          </a:xfrm>
          <a:prstGeom prst="roundRect">
            <a:avLst>
              <a:gd name="adj" fmla="val 14102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4048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0284A"/>
                </a:solidFill>
                <a:latin typeface="Calibri"/>
              </a:rPr>
              <a:t>Budgets, keys and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840480"/>
            <a:ext cx="42793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74C66"/>
                </a:solidFill>
                <a:latin typeface="Calibri"/>
              </a:rPr>
              <a:t>Standard gateway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63440"/>
            <a:ext cx="10543032" cy="713232"/>
          </a:xfrm>
          <a:prstGeom prst="roundRect">
            <a:avLst>
              <a:gd name="adj" fmla="val 14102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634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Native compression inside the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63440"/>
            <a:ext cx="42793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D0C6"/>
                </a:solidFill>
                <a:latin typeface="Calibri"/>
              </a:rPr>
              <a:t>Free, built-in, improving — the real competitor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96128"/>
            <a:ext cx="1054303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8C82"/>
                </a:solidFill>
                <a:latin typeface="Calibri"/>
              </a:rPr>
              <a:t>So what:  </a:t>
            </a:r>
            <a:r>
              <a:rPr sz="1350" b="0" i="0">
                <a:solidFill>
                  <a:srgbClr val="474C66"/>
                </a:solidFill>
                <a:latin typeface="Calibri"/>
              </a:rPr>
              <a:t>anything we build competes with a free, improving baseline. The bar is high — which is why we must not build on faith.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THE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real question is not “should we build it” — it is “does compression actually save us anything.”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697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5FD0C6"/>
                </a:solidFill>
                <a:latin typeface="Georgia"/>
              </a:rPr>
              <a:t>25–45%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C9D4EF"/>
                </a:solidFill>
                <a:latin typeface="Calibri"/>
              </a:rPr>
              <a:t>Projected token reduction — and entirely unmeasured.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2788920"/>
            <a:ext cx="14630" cy="2148840"/>
          </a:xfrm>
          <a:prstGeom prst="rect">
            <a:avLst/>
          </a:prstGeom>
          <a:solidFill>
            <a:srgbClr val="3C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761488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Every savings figure behind this initiative today is an estimate, not a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13632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D4EF"/>
                </a:solidFill>
                <a:latin typeface="Calibri"/>
              </a:rPr>
              <a:t>Committing a multi-month build to an unverified number is the exact mistake this deck exists to prevent. Measure first, then decide.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6A0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6A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A 2–4 week spike measures it on our own usage — then a hard gate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43032" cy="1481328"/>
          </a:xfrm>
          <a:prstGeom prst="roundRect">
            <a:avLst>
              <a:gd name="adj" fmla="val 6790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0E8C82"/>
                </a:solidFill>
                <a:latin typeface="Calibri"/>
              </a:rPr>
              <a:t>THE SPIKE  ·  2–4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0284A"/>
                </a:solidFill>
                <a:latin typeface="Calibri"/>
              </a:rPr>
              <a:t>Route our own coding work through a self-hosted proxy that compresses context — built from off-the-shelf parts, nothing custom.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272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8C82"/>
                </a:solidFill>
                <a:latin typeface="Calibri"/>
              </a:rPr>
              <a:t>Measures:   </a:t>
            </a:r>
            <a:r>
              <a:rPr sz="1250" b="0" i="0">
                <a:solidFill>
                  <a:srgbClr val="474C66"/>
                </a:solidFill>
                <a:latin typeface="Calibri"/>
              </a:rPr>
              <a:t>real token savings    ·    answer quality    ·    added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0E8C82"/>
                </a:solidFill>
                <a:latin typeface="Calibri"/>
              </a:rPr>
              <a:t>THE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33087"/>
            <a:ext cx="3310128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389120"/>
            <a:ext cx="182880" cy="18288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4334256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2E7D4F"/>
                </a:solidFill>
                <a:latin typeface="Calibr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0016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74C66"/>
                </a:solidFill>
                <a:latin typeface="Calibri"/>
              </a:rPr>
              <a:t>≥ 25% savings, no quality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48656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7D4F"/>
                </a:solidFill>
                <a:latin typeface="Calibri"/>
              </a:rPr>
              <a:t>→  </a:t>
            </a:r>
            <a:r>
              <a:rPr sz="1200" b="1" i="0">
                <a:solidFill>
                  <a:srgbClr val="20284A"/>
                </a:solidFill>
                <a:latin typeface="Calibri"/>
              </a:rPr>
              <a:t>Build the narrow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0268" y="4133087"/>
            <a:ext cx="3310128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4588" y="4389120"/>
            <a:ext cx="182880" cy="182880"/>
          </a:xfrm>
          <a:prstGeom prst="ellipse">
            <a:avLst/>
          </a:prstGeom>
          <a:solidFill>
            <a:srgbClr val="BC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7196" y="4334256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BC8318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4588" y="4700016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74C66"/>
                </a:solidFill>
                <a:latin typeface="Calibri"/>
              </a:rPr>
              <a:t>Modest savings (≥ 15%)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4588" y="5248656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BC8318"/>
                </a:solidFill>
                <a:latin typeface="Calibri"/>
              </a:rPr>
              <a:t>→  </a:t>
            </a:r>
            <a:r>
              <a:rPr sz="1200" b="1" i="0">
                <a:solidFill>
                  <a:srgbClr val="20284A"/>
                </a:solidFill>
                <a:latin typeface="Calibri"/>
              </a:rPr>
              <a:t>Keep as internal tooling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4133087"/>
            <a:ext cx="3310128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11896" y="4389120"/>
            <a:ext cx="182880" cy="182880"/>
          </a:xfrm>
          <a:prstGeom prst="ellipse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3" y="4334256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00">
                <a:solidFill>
                  <a:srgbClr val="B0413E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700016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74C66"/>
                </a:solidFill>
                <a:latin typeface="Calibri"/>
              </a:rPr>
              <a:t>Below 15%, or quality drops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5248656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B0413E"/>
                </a:solidFill>
                <a:latin typeface="Calibri"/>
              </a:rPr>
              <a:t>→  </a:t>
            </a:r>
            <a:r>
              <a:rPr sz="1200" b="1" i="0">
                <a:solidFill>
                  <a:srgbClr val="20284A"/>
                </a:solidFill>
                <a:latin typeface="Calibri"/>
              </a:rPr>
              <a:t>Adopt off-the-shelf, or drop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RISKS — KNOWN AND 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The risks are known — and the spike is built to surface the worst one cheaply.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291840" cy="361188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32304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B0413E"/>
                </a:solidFill>
                <a:latin typeface="Calibri"/>
              </a:rPr>
              <a:t>RISK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706624"/>
            <a:ext cx="27066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 i="0">
                <a:solidFill>
                  <a:srgbClr val="20284A"/>
                </a:solidFill>
                <a:latin typeface="Georgia"/>
              </a:rPr>
              <a:t>Compression may degrade code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547872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50">
                <a:solidFill>
                  <a:srgbClr val="9498AC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767328"/>
            <a:ext cx="27066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The compressor was trained on prose, not source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562856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0E8C82"/>
                </a:solidFill>
                <a:latin typeface="Calibri"/>
              </a:rPr>
              <a:t>HOW THE SPIKE HANDLES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782312"/>
            <a:ext cx="2706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If true, the spike returns Red in weeks — before any build. The test fixtures are built to catch exactly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194560"/>
            <a:ext cx="3291840" cy="361188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432304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B0413E"/>
                </a:solidFill>
                <a:latin typeface="Calibri"/>
              </a:rPr>
              <a:t>RISK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706624"/>
            <a:ext cx="27066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 i="0">
                <a:solidFill>
                  <a:srgbClr val="20284A"/>
                </a:solidFill>
                <a:latin typeface="Georgia"/>
              </a:rPr>
              <a:t>The free baseline may be good enough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547872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50">
                <a:solidFill>
                  <a:srgbClr val="9498AC"/>
                </a:solidFill>
                <a:latin typeface="Calibr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767328"/>
            <a:ext cx="27066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Native auto-compact improves with every assistant release.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562856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0E8C82"/>
                </a:solidFill>
                <a:latin typeface="Calibri"/>
              </a:rPr>
              <a:t>HOW THE SPIKE HANDLES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782312"/>
            <a:ext cx="2706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The spike measures the gap directly. An honest Amber or Red is the point of measuring, not a failure.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194560"/>
            <a:ext cx="3291840" cy="3611880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432304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B0413E"/>
                </a:solidFill>
                <a:latin typeface="Calibri"/>
              </a:rPr>
              <a:t>RISK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06624"/>
            <a:ext cx="27066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 i="0">
                <a:solidFill>
                  <a:srgbClr val="20284A"/>
                </a:solidFill>
                <a:latin typeface="Georgia"/>
              </a:rPr>
              <a:t>No spike owner is named yet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547872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50">
                <a:solidFill>
                  <a:srgbClr val="9498AC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767328"/>
            <a:ext cx="27066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The spike needs one engineer to run it for 2–4 weeks.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562856"/>
            <a:ext cx="2706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20">
                <a:solidFill>
                  <a:srgbClr val="0E8C82"/>
                </a:solidFill>
                <a:latin typeface="Calibri"/>
              </a:rPr>
              <a:t>HOW THE SPIKE HANDLES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782312"/>
            <a:ext cx="27066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Naming that owner is part of the ask on the next slide — a decision leadership can make today.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Approve the spike: a few engineer-weeks for a decision backed by real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5FD0C6"/>
                </a:solidFill>
                <a:latin typeface="Calibri"/>
              </a:rPr>
              <a:t>WHAT WE NEED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42032"/>
            <a:ext cx="384048" cy="384048"/>
          </a:xfrm>
          <a:prstGeom prst="ellipse">
            <a:avLst/>
          </a:prstGeom>
          <a:solidFill>
            <a:srgbClr val="2A3461"/>
          </a:solidFill>
          <a:ln w="12700">
            <a:solidFill>
              <a:srgbClr val="0E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FD0C6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505456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Approval to run the 2–4 week measurement spike.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10711"/>
            <a:ext cx="384048" cy="384048"/>
          </a:xfrm>
          <a:prstGeom prst="ellipse">
            <a:avLst/>
          </a:prstGeom>
          <a:solidFill>
            <a:srgbClr val="2A3461"/>
          </a:solidFill>
          <a:ln w="12700">
            <a:solidFill>
              <a:srgbClr val="0E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1071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FD0C6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374135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One engineer named to own and run it.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79392"/>
            <a:ext cx="384048" cy="384048"/>
          </a:xfrm>
          <a:prstGeom prst="ellipse">
            <a:avLst/>
          </a:prstGeom>
          <a:solidFill>
            <a:srgbClr val="2A3461"/>
          </a:solidFill>
          <a:ln w="12700">
            <a:solidFill>
              <a:srgbClr val="0E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793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FD0C6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4242816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 handful of developers to route their daily coding work through it for about one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148840"/>
            <a:ext cx="4480560" cy="281635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39572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0E8C82"/>
                </a:solidFill>
                <a:latin typeface="Calibri"/>
              </a:rPr>
              <a:t>WHAT IT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63347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0" i="0">
                <a:solidFill>
                  <a:srgbClr val="20284A"/>
                </a:solidFill>
                <a:latin typeface="Calibri"/>
              </a:rPr>
              <a:t>~8–15 engineer-days of effort, spread across a 2–4 week window.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346704"/>
            <a:ext cx="3931920" cy="14630"/>
          </a:xfrm>
          <a:prstGeom prst="rect">
            <a:avLst/>
          </a:prstGeom>
          <a:solidFill>
            <a:srgbClr val="CBD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493008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0E8C82"/>
                </a:solidFill>
                <a:latin typeface="Calibri"/>
              </a:rPr>
              <a:t>WHAT YOU GET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730752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20284A"/>
                </a:solidFill>
                <a:latin typeface="Calibri"/>
              </a:rPr>
              <a:t>A Green / Amber / Red verdict — measured savings, quality and latency — and the evidence to commit to or kill the build.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57216"/>
            <a:ext cx="10543032" cy="841248"/>
          </a:xfrm>
          <a:prstGeom prst="roundRect">
            <a:avLst>
              <a:gd name="adj" fmla="val 11956"/>
            </a:avLst>
          </a:prstGeom>
          <a:solidFill>
            <a:srgbClr val="2A3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57216"/>
            <a:ext cx="9994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FD0C6"/>
                </a:solidFill>
                <a:latin typeface="Calibri"/>
              </a:rPr>
              <a:t>Already done, at no further cost:  </a:t>
            </a:r>
            <a:r>
              <a:rPr sz="1250" b="0" i="0">
                <a:solidFill>
                  <a:srgbClr val="C9D4EF"/>
                </a:solidFill>
                <a:latin typeface="Calibri"/>
              </a:rPr>
              <a:t>the prior-art research, the architecture, the systems review, the runnable measurement kit, and the delivery plan. This funds execution, not exploration.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6A0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6A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ANTICIPATED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Questions leadership will likely ask — and the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74920" cy="169164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14015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C82"/>
                </a:solidFill>
                <a:latin typeface="Georgia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3230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What if we do nothing?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962656"/>
            <a:ext cx="4160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We keep paying a rising, unmeasured bill and stay blind to whether a cheap fix exists. The spike removes that blindness either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194560"/>
            <a:ext cx="5074920" cy="169164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414015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C82"/>
                </a:solidFill>
                <a:latin typeface="Georgia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3230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Why not just adopt an existing product?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962656"/>
            <a:ext cx="4160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Adopting before knowing the savings are real on our code would be a guess — and our zero-egress rule excludes the hosted options. The spike tells 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87368"/>
            <a:ext cx="5074920" cy="169164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06824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C82"/>
                </a:solidFill>
                <a:latin typeface="Georgia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43251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What if the spike says no?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855464"/>
            <a:ext cx="4160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Then a few engineer-weeks have saved us a 3–5 month build on a false premise. A Red verdict is the spike succeeding.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087368"/>
            <a:ext cx="5074920" cy="169164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C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4306824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8C82"/>
                </a:solidFill>
                <a:latin typeface="Georgia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3251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How is this not innovation theater?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855464"/>
            <a:ext cx="4160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474C66"/>
                </a:solidFill>
                <a:latin typeface="Calibri"/>
              </a:rPr>
              <a:t>One explicit kill gate, off-the-shelf parts, and no product built until measured numbers justify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300">
                <a:solidFill>
                  <a:srgbClr val="0E8C82"/>
                </a:solidFill>
                <a:latin typeface="Calibri"/>
              </a:rPr>
              <a:t>WHERE THE DETAIL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68096"/>
            <a:ext cx="105430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20284A"/>
                </a:solidFill>
                <a:latin typeface="Georgia"/>
              </a:rPr>
              <a:t>This deck sits on a complete project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14884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Product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The why, the wedge, and the decision posture.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2194560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148840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Milestones M0–M2 and the kill / continue gates.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44952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99232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Delivery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192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Work breakdown, effort, critical path, risk register.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3044952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999232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Prior-Art Landscape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3192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The market scan behind “the concept already ships.”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95344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4962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Build-vs-Adopt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169663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The four options, and why a spike comes first.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895344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84962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Systems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169663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The Module 5 conformance review of the architecture.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745736"/>
            <a:ext cx="109728" cy="566928"/>
          </a:xfrm>
          <a:prstGeom prst="rect">
            <a:avLst/>
          </a:prstGeom>
          <a:solidFill>
            <a:srgbClr val="0E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700016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84A"/>
                </a:solidFill>
                <a:latin typeface="Calibri"/>
              </a:rPr>
              <a:t>Spike Kit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0200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4C66"/>
                </a:solidFill>
                <a:latin typeface="Calibri"/>
              </a:rPr>
              <a:t>The runnable LiteLLM + LLMLingua-2 measurement rig.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32120"/>
            <a:ext cx="10543032" cy="603504"/>
          </a:xfrm>
          <a:prstGeom prst="roundRect">
            <a:avLst>
              <a:gd name="adj" fmla="val 16666"/>
            </a:avLst>
          </a:prstGeom>
          <a:solidFill>
            <a:srgbClr val="EA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99943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All documents:  </a:t>
            </a:r>
            <a:r>
              <a:rPr sz="1250" b="0" i="1">
                <a:solidFill>
                  <a:srgbClr val="1E2761"/>
                </a:solidFill>
                <a:latin typeface="Calibri"/>
              </a:rPr>
              <a:t>product-research / token-optimizer 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AI Token Optimizer  ·  Decision deck for AVP / VP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98AC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