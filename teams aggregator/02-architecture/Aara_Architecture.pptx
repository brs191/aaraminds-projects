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View 01: System Architecture
Four trust zones top-to-bottom. Note the LLM hop on the bottom goes via private network to AskAT&amp;T; no public-Internet AI providers are reachable.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View 02: Network &amp; Security
Read left-to-right: untrusted Internet → managed M365 → AT&amp;T-owned Azure → private AT&amp;T network. Compliance band at bottom maps each control family to NIST 800-53 R5.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View 03: Data Flow / Sequence
Steps 1–5 are continuous capture. Step 6 is the trigger (user command or scheduler). Steps 7–13 are extract + deliver. Steps 14–19 are user interaction and write-back to Planner.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View 04: Deployment View
Left: primary region (East US 2) with full topology. Right: DR posture (West US 3, warm-standby). Bottom: CI/CD with OIDC and IaC. Cost forecast: ~$3.8k/mo at prod.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ARA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Aara — Architecture pack · v0.2 · May 2026 · AT&amp;T tenant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778240" y="660196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Internal use only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69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PACK · v0.2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Aara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Teams Aggregator Bot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4747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Microsoft Teams bot — hosted on Azure, powered by </a:t>
            </a:r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F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AskAT&amp;T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woven across the Microsoft 365 estate — that captures </a:t>
            </a:r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action items, decisions, path forward and follow-ups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designated channels and @mentions.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5029200"/>
            <a:ext cx="2514600" cy="1280160"/>
          </a:xfrm>
          <a:prstGeom prst="rect">
            <a:avLst/>
          </a:prstGeom>
          <a:solidFill>
            <a:srgbClr val="2C3573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0749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5440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5806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components, zones, data flow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20440" y="5029200"/>
            <a:ext cx="2514600" cy="1280160"/>
          </a:xfrm>
          <a:prstGeom prst="rect">
            <a:avLst/>
          </a:prstGeom>
          <a:solidFill>
            <a:srgbClr val="2C3573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50749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611880" y="5440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Security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5806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perimeters, controls, compliance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5029200"/>
            <a:ext cx="2514600" cy="1280160"/>
          </a:xfrm>
          <a:prstGeom prst="rect">
            <a:avLst/>
          </a:prstGeom>
          <a:solidFill>
            <a:srgbClr val="2C3573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50749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09360" y="5440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5806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sequence of a digest run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15400" y="5029200"/>
            <a:ext cx="2514600" cy="1280160"/>
          </a:xfrm>
          <a:prstGeom prst="rect">
            <a:avLst/>
          </a:prstGeom>
          <a:solidFill>
            <a:srgbClr val="2C3573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06840" y="50749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006840" y="5440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View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06840" y="5806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Regions, SKUs, scaling, DR, CI/CD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  ·  Product  ·  May 2026  ·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pack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views, one system. Each diagram zooms in on what its audience cares about.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2286000"/>
          </a:xfrm>
          <a:prstGeom prst="rect">
            <a:avLst/>
          </a:prstGeom>
          <a:solidFill>
            <a:srgbClr val="F8F9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109728" cy="2286000"/>
          </a:xfrm>
          <a:prstGeom prst="rect">
            <a:avLst/>
          </a:prstGeom>
          <a:solidFill>
            <a:srgbClr val="FF690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08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53619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874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Everyone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5166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trust zones: Users → Microsoft 365 → Azure → AT&amp;T network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the system depends 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data flow between zones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by category: compute, data, security, AI, observability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486400" cy="2286000"/>
          </a:xfrm>
          <a:prstGeom prst="rect">
            <a:avLst/>
          </a:prstGeom>
          <a:solidFill>
            <a:srgbClr val="F8F9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463040"/>
            <a:ext cx="109728" cy="2286000"/>
          </a:xfrm>
          <a:prstGeom prst="rect">
            <a:avLst/>
          </a:prstGeom>
          <a:solidFill>
            <a:srgbClr val="FF6900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508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223760" y="153619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Security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223760" y="1874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IT / Security review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46520" y="2240280"/>
            <a:ext cx="5166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perimeter (Entra ID, RSC, Managed Identity)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perimeters: Internet → M365 → Azure VNet → AT&amp;T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Endpoints, ExpressRoute, mTLS path to AskAT&amp;T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band: NIST 800-53 R5 mapping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5486400" cy="2286000"/>
          </a:xfrm>
          <a:prstGeom prst="rect">
            <a:avLst/>
          </a:prstGeom>
          <a:solidFill>
            <a:srgbClr val="F8F9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931920"/>
            <a:ext cx="109728" cy="2286000"/>
          </a:xfrm>
          <a:prstGeom prst="rect">
            <a:avLst/>
          </a:prstGeom>
          <a:solidFill>
            <a:srgbClr val="FF690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9776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63040" y="40050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/ Sequence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43434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Engineering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4709160"/>
            <a:ext cx="5166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trace of one digest run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lifelines from channel member to Adaptive Card reply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→ Extract → Persist → Deliver → Interact phases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paths for both on-demand and scheduled digests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0" y="3931920"/>
            <a:ext cx="5486400" cy="2286000"/>
          </a:xfrm>
          <a:prstGeom prst="rect">
            <a:avLst/>
          </a:prstGeom>
          <a:solidFill>
            <a:srgbClr val="F8F9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3931920"/>
            <a:ext cx="109728" cy="2286000"/>
          </a:xfrm>
          <a:prstGeom prst="rect">
            <a:avLst/>
          </a:prstGeom>
          <a:solidFill>
            <a:srgbClr val="FF6900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39776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223760" y="40050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View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23760" y="43434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Engineering + Ops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46520" y="4709160"/>
            <a:ext cx="5166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regions (East US 2 primary, West US 3 DR)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SKUs, autoscale, zone redundancy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layout, Private DNS, ExpressRoute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pipeline, IaC modules, secrets approach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09728" cy="640080"/>
          </a:xfrm>
          <a:prstGeom prst="rect">
            <a:avLst/>
          </a:prstGeom>
          <a:solidFill>
            <a:srgbClr val="FF6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685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· all zones · macro view</a:t>
            </a:r>
            <a:endParaRPr lang="en-US" sz="1200" dirty="0"/>
          </a:p>
        </p:txBody>
      </p:sp>
      <p:pic>
        <p:nvPicPr>
          <p:cNvPr id="6" name="Image 0" descr="/tmp/svg_render/Aara_Architecture_01_Syst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5926" y="1097280"/>
            <a:ext cx="7517100" cy="5120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trust zones top-to-bottom. Note the LLM hop on the bottom goes via private network to AskAT&amp;T; no public-Internet AI providers are reachable.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09728" cy="640080"/>
          </a:xfrm>
          <a:prstGeom prst="rect">
            <a:avLst/>
          </a:prstGeom>
          <a:solidFill>
            <a:srgbClr val="FF6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Security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685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· perimeters · controls · compliance</a:t>
            </a:r>
            <a:endParaRPr lang="en-US" sz="1200" dirty="0"/>
          </a:p>
        </p:txBody>
      </p:sp>
      <p:pic>
        <p:nvPicPr>
          <p:cNvPr id="6" name="Image 0" descr="/tmp/svg_render/Aara_Architecture_02_Secu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5926" y="1097280"/>
            <a:ext cx="7517100" cy="5120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left-to-right: untrusted Internet → managed M365 → AT&amp;T-owned Azure → private AT&amp;T network. Compliance band at bottom maps each control family to NIST 800-53 R5.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09728" cy="640080"/>
          </a:xfrm>
          <a:prstGeom prst="rect">
            <a:avLst/>
          </a:prstGeom>
          <a:solidFill>
            <a:srgbClr val="FF6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/ Sequence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685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digest run, end-to-end</a:t>
            </a:r>
            <a:endParaRPr lang="en-US" sz="1200" dirty="0"/>
          </a:p>
        </p:txBody>
      </p:sp>
      <p:pic>
        <p:nvPicPr>
          <p:cNvPr id="6" name="Image 0" descr="/tmp/svg_render/Aara_Architecture_03_Data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5926" y="1097280"/>
            <a:ext cx="7517100" cy="5120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1–5 are continuous capture. Step 6 is the trigger (user command or scheduler). Steps 7–13 are extract + deliver. Steps 14–19 are user interaction and write-back to Planner.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09728" cy="640080"/>
          </a:xfrm>
          <a:prstGeom prst="rect">
            <a:avLst/>
          </a:prstGeom>
          <a:solidFill>
            <a:srgbClr val="FF6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685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· SKUs · scaling · DR · CI/CD</a:t>
            </a:r>
            <a:endParaRPr lang="en-US" sz="1200" dirty="0"/>
          </a:p>
        </p:txBody>
      </p:sp>
      <p:pic>
        <p:nvPicPr>
          <p:cNvPr id="6" name="Image 0" descr="/tmp/svg_render/Aara_Architecture_04_Deploy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5926" y="1097280"/>
            <a:ext cx="7517100" cy="5120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primary region (East US 2) with full topology. Right: DR posture (West US 3, warm-standby). Bottom: CI/CD with OIDC and IaC. Cost forecast: ~$3.8k/mo at prod.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reference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components in v1; v1.1 and v2 phases noted.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2286000"/>
          </a:xfrm>
          <a:prstGeom prst="rect">
            <a:avLst/>
          </a:prstGeom>
          <a:solidFill>
            <a:srgbClr val="F8F9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109728" cy="22860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54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(v1)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(chats, channels, group chats)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Graph + change notifications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+ Resource-Specific Consent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Cards (digest UI)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(sensitivity labels)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for Cloud Apps + DLP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45352" y="1463040"/>
            <a:ext cx="5486400" cy="2286000"/>
          </a:xfrm>
          <a:prstGeom prst="rect">
            <a:avLst/>
          </a:prstGeom>
          <a:solidFill>
            <a:srgbClr val="F8F9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45352" y="1463040"/>
            <a:ext cx="109728" cy="22860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0" name="Text 8"/>
          <p:cNvSpPr/>
          <p:nvPr/>
        </p:nvSpPr>
        <p:spPr>
          <a:xfrm>
            <a:off x="6473952" y="1554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(v1)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73952" y="196596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Bot Service (Standard)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 Premium P1v3 (zone-redundant)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Premium EP1 (Timer)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DB autoscale 4k–40k RU/s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 Premium (HSM, CMK)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 Standard S1 (semantic)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Insights + Log Analytics + Sentinel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 Premium + WAF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5486400" cy="2286000"/>
          </a:xfrm>
          <a:prstGeom prst="rect">
            <a:avLst/>
          </a:prstGeom>
          <a:solidFill>
            <a:srgbClr val="F8F9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931920"/>
            <a:ext cx="109728" cy="2286000"/>
          </a:xfrm>
          <a:prstGeom prst="rect">
            <a:avLst/>
          </a:prstGeom>
          <a:solidFill>
            <a:srgbClr val="FF690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023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AT&amp;T network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443484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AskAT&amp;T enterprise LLM endpoint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ExpressRoute UltraPerformance gateway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peering (active/active)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capacity: 12 RPS sustained / 30 RPS burst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mTLS, AT&amp;T-internal identity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Per-call audit plane (model, latency, prompt hash)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45352" y="3931920"/>
            <a:ext cx="5486400" cy="2286000"/>
          </a:xfrm>
          <a:prstGeom prst="rect">
            <a:avLst/>
          </a:prstGeom>
          <a:solidFill>
            <a:srgbClr val="F8F9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45352" y="3931920"/>
            <a:ext cx="109728" cy="2286000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4023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v1.1 / v2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73952" y="443484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Planner (action-item write-back) — v1.1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Online (digest archive) — v1.1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Loop (live components) — v1.1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/ Exchange (email digest) — v1.1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OneNote, Lists, Power Automate — v2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Search / Copilot agent — v2+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7</Slides>
	<Notes>7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7</vt:i4></vt:variant>
		</vt:vector>
	</HeadingPairs>
	<TitlesOfParts>
		<vt:vector size="10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
		</vt:vector>
	</TitlesOfParts>
	<Company>AT&T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Aara Teams Aggregator — Architecture</dc:title>
  <dc:subject>Architecture pack v0.2</dc:subject>
  <dc:creator>Raja (Product)</dc:creator>
  <cp:lastModifiedBy>Raja (Product)</cp:lastModifiedBy>
  <cp:revision>1</cp:revision>
  <dcterms:created xsi:type="dcterms:W3CDTF">2026-05-26T03:20:45Z</dcterms:created>
  <dcterms:modified xsi:type="dcterms:W3CDTF">2026-05-26T03:20:45Z</dcterms:modified>
</cp:coreProperties>
</file>